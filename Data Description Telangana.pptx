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8" r:id="rId3"/>
    <p:sldId id="257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59" r:id="rId13"/>
    <p:sldId id="292" r:id="rId14"/>
    <p:sldId id="299" r:id="rId15"/>
    <p:sldId id="273" r:id="rId16"/>
    <p:sldId id="300" r:id="rId17"/>
    <p:sldId id="276" r:id="rId18"/>
    <p:sldId id="301" r:id="rId19"/>
    <p:sldId id="277" r:id="rId20"/>
    <p:sldId id="302" r:id="rId21"/>
    <p:sldId id="270" r:id="rId22"/>
    <p:sldId id="293" r:id="rId23"/>
    <p:sldId id="296" r:id="rId24"/>
    <p:sldId id="297" r:id="rId25"/>
    <p:sldId id="285" r:id="rId26"/>
    <p:sldId id="290" r:id="rId27"/>
    <p:sldId id="291" r:id="rId28"/>
    <p:sldId id="286" r:id="rId29"/>
    <p:sldId id="298" r:id="rId30"/>
    <p:sldId id="295" r:id="rId31"/>
    <p:sldId id="287" r:id="rId32"/>
    <p:sldId id="288" r:id="rId33"/>
    <p:sldId id="289" r:id="rId34"/>
    <p:sldId id="29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9" autoAdjust="0"/>
  </p:normalViewPr>
  <p:slideViewPr>
    <p:cSldViewPr snapToGrid="0">
      <p:cViewPr varScale="1">
        <p:scale>
          <a:sx n="78" d="100"/>
          <a:sy n="78" d="100"/>
        </p:scale>
        <p:origin x="878" y="1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48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84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8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65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0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7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27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48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26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4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FA815-CB7D-48B2-ABC8-0F2F3B88F1F4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E7459-7C5A-4F9B-ACED-73D00243D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0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05C8-2D7C-DB92-BD7A-CF3FC8E6B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2193" y="1161856"/>
            <a:ext cx="8714775" cy="1696065"/>
          </a:xfrm>
        </p:spPr>
        <p:txBody>
          <a:bodyPr>
            <a:noAutofit/>
          </a:bodyPr>
          <a:lstStyle/>
          <a:p>
            <a:r>
              <a:rPr lang="en-US" sz="6000" spc="-498" dirty="0">
                <a:solidFill>
                  <a:srgbClr val="00694C"/>
                </a:solidFill>
                <a:latin typeface="Raleway Medium"/>
              </a:rPr>
              <a:t>Telangana Growth Analysis </a:t>
            </a:r>
            <a:br>
              <a:rPr lang="en-US" spc="-498" dirty="0">
                <a:solidFill>
                  <a:srgbClr val="00694C"/>
                </a:solidFill>
                <a:latin typeface="Raleway Medium"/>
              </a:rPr>
            </a:br>
            <a:endParaRPr lang="en-IN" sz="4400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B75BAF05-5A95-FC86-F6C9-73A393ED0EB6}"/>
              </a:ext>
            </a:extLst>
          </p:cNvPr>
          <p:cNvSpPr/>
          <p:nvPr/>
        </p:nvSpPr>
        <p:spPr>
          <a:xfrm>
            <a:off x="117804" y="0"/>
            <a:ext cx="2038688" cy="1876346"/>
          </a:xfrm>
          <a:custGeom>
            <a:avLst/>
            <a:gdLst/>
            <a:ahLst/>
            <a:cxnLst/>
            <a:rect l="l" t="t" r="r" b="b"/>
            <a:pathLst>
              <a:path w="2696200" h="2696200">
                <a:moveTo>
                  <a:pt x="0" y="0"/>
                </a:moveTo>
                <a:lnTo>
                  <a:pt x="2696200" y="0"/>
                </a:lnTo>
                <a:lnTo>
                  <a:pt x="2696200" y="2696200"/>
                </a:lnTo>
                <a:lnTo>
                  <a:pt x="0" y="269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B5FCE49-247E-0E11-2BA7-6719793A47BD}"/>
              </a:ext>
            </a:extLst>
          </p:cNvPr>
          <p:cNvSpPr/>
          <p:nvPr/>
        </p:nvSpPr>
        <p:spPr>
          <a:xfrm>
            <a:off x="117804" y="3406877"/>
            <a:ext cx="5555409" cy="3360983"/>
          </a:xfrm>
          <a:custGeom>
            <a:avLst/>
            <a:gdLst/>
            <a:ahLst/>
            <a:cxnLst/>
            <a:rect l="l" t="t" r="r" b="b"/>
            <a:pathLst>
              <a:path w="7171694" h="7036277">
                <a:moveTo>
                  <a:pt x="0" y="0"/>
                </a:moveTo>
                <a:lnTo>
                  <a:pt x="7171694" y="0"/>
                </a:lnTo>
                <a:lnTo>
                  <a:pt x="7171694" y="7036278"/>
                </a:lnTo>
                <a:lnTo>
                  <a:pt x="0" y="7036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758" r="-1198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00695-8AD5-90C9-EE92-3A11DD7D2166}"/>
              </a:ext>
            </a:extLst>
          </p:cNvPr>
          <p:cNvSpPr txBox="1"/>
          <p:nvPr/>
        </p:nvSpPr>
        <p:spPr>
          <a:xfrm>
            <a:off x="9232491" y="5932175"/>
            <a:ext cx="321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Presented by Gaurav Nailwal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71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E770-5241-DD8C-F0D0-68347E5F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615038-E141-682D-3EF1-54C9EDB2B810}"/>
              </a:ext>
            </a:extLst>
          </p:cNvPr>
          <p:cNvSpPr txBox="1"/>
          <p:nvPr/>
        </p:nvSpPr>
        <p:spPr>
          <a:xfrm>
            <a:off x="2231923" y="108154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About Telangana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C40F9-0BB2-2921-F343-E3EE2A663C88}"/>
              </a:ext>
            </a:extLst>
          </p:cNvPr>
          <p:cNvSpPr txBox="1"/>
          <p:nvPr/>
        </p:nvSpPr>
        <p:spPr>
          <a:xfrm>
            <a:off x="0" y="1464006"/>
            <a:ext cx="6843251" cy="392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1884" lvl="1" indent="-295942">
              <a:lnSpc>
                <a:spcPts val="3838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Raleway"/>
              </a:rPr>
              <a:t>Telangana is India's youngest state, formed in 2014. capital city is Hyderabad, is a global IT hub with famous landmarks like the Charminar.</a:t>
            </a:r>
          </a:p>
          <a:p>
            <a:pPr marL="591884" lvl="1" indent="-295942">
              <a:lnSpc>
                <a:spcPts val="3838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Raleway"/>
              </a:rPr>
              <a:t>The state has seen fast economic growth, especially in IT, pharmaceuticals, and manufacturing. </a:t>
            </a:r>
          </a:p>
          <a:p>
            <a:pPr marL="591884" lvl="1" indent="-295942">
              <a:lnSpc>
                <a:spcPts val="3838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Raleway"/>
              </a:rPr>
              <a:t>Telugu and Urdu are the official languages.</a:t>
            </a:r>
          </a:p>
          <a:p>
            <a:pPr marL="591884" lvl="1" indent="-295942">
              <a:lnSpc>
                <a:spcPts val="3838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Raleway"/>
              </a:rPr>
              <a:t> Government is focused on digital services, development projects, education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Raleway"/>
              </a:rPr>
              <a:t>.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8C0E5F35-EECD-9282-4F15-CECFED9D45C6}"/>
              </a:ext>
            </a:extLst>
          </p:cNvPr>
          <p:cNvSpPr/>
          <p:nvPr/>
        </p:nvSpPr>
        <p:spPr>
          <a:xfrm>
            <a:off x="6941573" y="1238864"/>
            <a:ext cx="4925961" cy="5034118"/>
          </a:xfrm>
          <a:custGeom>
            <a:avLst/>
            <a:gdLst/>
            <a:ahLst/>
            <a:cxnLst/>
            <a:rect l="l" t="t" r="r" b="b"/>
            <a:pathLst>
              <a:path w="9154819" h="9824054">
                <a:moveTo>
                  <a:pt x="0" y="0"/>
                </a:moveTo>
                <a:lnTo>
                  <a:pt x="9154819" y="0"/>
                </a:lnTo>
                <a:lnTo>
                  <a:pt x="9154819" y="9824054"/>
                </a:lnTo>
                <a:lnTo>
                  <a:pt x="0" y="9824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r="-7625" b="-68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4028-93E5-E8FB-E785-A26F068B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FD4697-D304-BAA4-D123-60BDEC136636}"/>
              </a:ext>
            </a:extLst>
          </p:cNvPr>
          <p:cNvSpPr txBox="1"/>
          <p:nvPr/>
        </p:nvSpPr>
        <p:spPr>
          <a:xfrm>
            <a:off x="658761" y="78658"/>
            <a:ext cx="9694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Business Objective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A93B7-6AAE-6FAE-5340-B64AE8FBC97F}"/>
              </a:ext>
            </a:extLst>
          </p:cNvPr>
          <p:cNvSpPr txBox="1"/>
          <p:nvPr/>
        </p:nvSpPr>
        <p:spPr>
          <a:xfrm>
            <a:off x="285135" y="1246171"/>
            <a:ext cx="10500852" cy="1477328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2">
                    <a:lumMod val="10000"/>
                  </a:schemeClr>
                </a:solidFill>
                <a:effectLst/>
                <a:latin typeface="system-ui"/>
              </a:rPr>
              <a:t>To analyze the growth of Telangana across multiple sectors — including Stamp Registration, Transportation, and Toll Transactions (TS-I PASS) — using real-time datasets to identify trends, correlations, and opportunities. The goal is to generate actionable insights that support data-driven decision-making by the Telangana State Government, enabling informed policy formulation, resource allocation, and sustainable development planning. 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93E8D-1822-F2D8-5B18-704E4549F687}"/>
              </a:ext>
            </a:extLst>
          </p:cNvPr>
          <p:cNvSpPr txBox="1"/>
          <p:nvPr/>
        </p:nvSpPr>
        <p:spPr>
          <a:xfrm>
            <a:off x="285135" y="3183126"/>
            <a:ext cx="7160693" cy="3393237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000" b="1" i="1" u="sng" dirty="0">
                <a:solidFill>
                  <a:srgbClr val="00B0F0"/>
                </a:solidFill>
                <a:effectLst/>
                <a:latin typeface="system-ui"/>
              </a:rPr>
              <a:t>Key Focus Areas: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Analyze monthly, quarterly, and yearly trends in each sector.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Identify high-performing and underperforming districts.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Understand shifts in vehicle sales (especially electric adoption).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Stamp registration and toll revenue to district-level activity.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Correlate inter-departmental performance for holistic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74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9960-6526-83F3-61A4-8E16A14E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8EFF81-2369-8047-195B-7A38033CC0A4}"/>
              </a:ext>
            </a:extLst>
          </p:cNvPr>
          <p:cNvSpPr txBox="1"/>
          <p:nvPr/>
        </p:nvSpPr>
        <p:spPr>
          <a:xfrm>
            <a:off x="2231923" y="108154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Who can be Stakeholders?</a:t>
            </a:r>
            <a:endParaRPr lang="en-IN" sz="4000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827103-1D0D-7B3F-CC37-6CD973E7D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02528"/>
              </p:ext>
            </p:extLst>
          </p:nvPr>
        </p:nvGraphicFramePr>
        <p:xfrm>
          <a:off x="835741" y="1406011"/>
          <a:ext cx="9704440" cy="425736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852220">
                  <a:extLst>
                    <a:ext uri="{9D8B030D-6E8A-4147-A177-3AD203B41FA5}">
                      <a16:colId xmlns:a16="http://schemas.microsoft.com/office/drawing/2014/main" val="750625030"/>
                    </a:ext>
                  </a:extLst>
                </a:gridCol>
                <a:gridCol w="4852220">
                  <a:extLst>
                    <a:ext uri="{9D8B030D-6E8A-4147-A177-3AD203B41FA5}">
                      <a16:colId xmlns:a16="http://schemas.microsoft.com/office/drawing/2014/main" val="2662633347"/>
                    </a:ext>
                  </a:extLst>
                </a:gridCol>
              </a:tblGrid>
              <a:tr h="6300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STAKEHOLDERS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INTEREST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246164"/>
                  </a:ext>
                </a:extLst>
              </a:tr>
              <a:tr h="85547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Telangana State Government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 development, budget allocation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687907"/>
                  </a:ext>
                </a:extLst>
              </a:tr>
              <a:tr h="855474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 Department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Stamp registration trends, tax collection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20303"/>
                  </a:ext>
                </a:extLst>
              </a:tr>
              <a:tr h="63879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 Department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Vehicle ownership, fuel shift, mobility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49290"/>
                  </a:ext>
                </a:extLst>
              </a:tr>
              <a:tr h="63879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Highways &amp; Roads Authorities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Toll usage, infrastructure planning</a:t>
                      </a:r>
                      <a:endParaRPr lang="en-IN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780454550"/>
                  </a:ext>
                </a:extLst>
              </a:tr>
              <a:tr h="63879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Investors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 opportunities, ROI areas</a:t>
                      </a:r>
                      <a:endParaRPr lang="en-IN" b="0" dirty="0">
                        <a:solidFill>
                          <a:srgbClr val="F7F8FC"/>
                        </a:solidFill>
                        <a:effectLst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3597694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28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C1125-2FCA-7249-2BBF-893607D4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62BE77-243F-E264-159F-A8408C9F807D}"/>
              </a:ext>
            </a:extLst>
          </p:cNvPr>
          <p:cNvSpPr txBox="1"/>
          <p:nvPr/>
        </p:nvSpPr>
        <p:spPr>
          <a:xfrm>
            <a:off x="2231923" y="108154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A927D5-0C67-D9D7-EF2A-B2E7B1C9C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87511"/>
              </p:ext>
            </p:extLst>
          </p:nvPr>
        </p:nvGraphicFramePr>
        <p:xfrm>
          <a:off x="321187" y="880685"/>
          <a:ext cx="11126840" cy="544225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38711">
                  <a:extLst>
                    <a:ext uri="{9D8B030D-6E8A-4147-A177-3AD203B41FA5}">
                      <a16:colId xmlns:a16="http://schemas.microsoft.com/office/drawing/2014/main" val="694943097"/>
                    </a:ext>
                  </a:extLst>
                </a:gridCol>
                <a:gridCol w="1199535">
                  <a:extLst>
                    <a:ext uri="{9D8B030D-6E8A-4147-A177-3AD203B41FA5}">
                      <a16:colId xmlns:a16="http://schemas.microsoft.com/office/drawing/2014/main" val="1716041325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3974218085"/>
                    </a:ext>
                  </a:extLst>
                </a:gridCol>
                <a:gridCol w="1612491">
                  <a:extLst>
                    <a:ext uri="{9D8B030D-6E8A-4147-A177-3AD203B41FA5}">
                      <a16:colId xmlns:a16="http://schemas.microsoft.com/office/drawing/2014/main" val="2406395059"/>
                    </a:ext>
                  </a:extLst>
                </a:gridCol>
                <a:gridCol w="1612490">
                  <a:extLst>
                    <a:ext uri="{9D8B030D-6E8A-4147-A177-3AD203B41FA5}">
                      <a16:colId xmlns:a16="http://schemas.microsoft.com/office/drawing/2014/main" val="2176754609"/>
                    </a:ext>
                  </a:extLst>
                </a:gridCol>
                <a:gridCol w="3873910">
                  <a:extLst>
                    <a:ext uri="{9D8B030D-6E8A-4147-A177-3AD203B41FA5}">
                      <a16:colId xmlns:a16="http://schemas.microsoft.com/office/drawing/2014/main" val="3663680669"/>
                    </a:ext>
                  </a:extLst>
                </a:gridCol>
              </a:tblGrid>
              <a:tr h="727587">
                <a:tc>
                  <a:txBody>
                    <a:bodyPr/>
                    <a:lstStyle/>
                    <a:p>
                      <a:r>
                        <a:rPr lang="en-US" dirty="0"/>
                        <a:t>Table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records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columns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Granularity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347569"/>
                  </a:ext>
                </a:extLst>
              </a:tr>
              <a:tr h="650118">
                <a:tc>
                  <a:txBody>
                    <a:bodyPr/>
                    <a:lstStyle/>
                    <a:p>
                      <a:r>
                        <a:rPr lang="en-US" dirty="0"/>
                        <a:t>dim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monthly level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31094"/>
                  </a:ext>
                </a:extLst>
              </a:tr>
              <a:tr h="376656">
                <a:tc>
                  <a:txBody>
                    <a:bodyPr/>
                    <a:lstStyle/>
                    <a:p>
                      <a:r>
                        <a:rPr lang="en-US" dirty="0"/>
                        <a:t>dim districts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 code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district level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56854"/>
                  </a:ext>
                </a:extLst>
              </a:tr>
              <a:tr h="1120318">
                <a:tc>
                  <a:txBody>
                    <a:bodyPr/>
                    <a:lstStyle/>
                    <a:p>
                      <a:r>
                        <a:rPr lang="en-US" dirty="0"/>
                        <a:t>fact stamps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dist code , month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monthly per districts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(each row represents stamp registrations for one district in one month)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975817"/>
                  </a:ext>
                </a:extLst>
              </a:tr>
              <a:tr h="1378853">
                <a:tc>
                  <a:txBody>
                    <a:bodyPr/>
                    <a:lstStyle/>
                    <a:p>
                      <a:r>
                        <a:rPr lang="en-US" dirty="0"/>
                        <a:t>fact transports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dist code , month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monthly per districts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(each row represents transports registrations for one district in one month)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323572"/>
                  </a:ext>
                </a:extLst>
              </a:tr>
              <a:tr h="1120318">
                <a:tc>
                  <a:txBody>
                    <a:bodyPr/>
                    <a:lstStyle/>
                    <a:p>
                      <a:r>
                        <a:rPr lang="en-US" dirty="0"/>
                        <a:t>fact TS iPASS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5753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dist code , month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 per district per sector (each row represents industrial project approvals in a specific sector for a given district and month)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58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49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A403-0F0B-B39D-EE76-F7B37BC34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EC1130-207C-9D0E-161E-DA33FD399138}"/>
              </a:ext>
            </a:extLst>
          </p:cNvPr>
          <p:cNvSpPr txBox="1"/>
          <p:nvPr/>
        </p:nvSpPr>
        <p:spPr>
          <a:xfrm>
            <a:off x="1917290" y="167147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6C61C-A62F-FC4D-FF35-BD017483C38D}"/>
              </a:ext>
            </a:extLst>
          </p:cNvPr>
          <p:cNvSpPr txBox="1"/>
          <p:nvPr/>
        </p:nvSpPr>
        <p:spPr>
          <a:xfrm>
            <a:off x="157316" y="1268362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Table : dim date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D8FF7-F5FE-8A9E-0BA6-B9EF36E3A5EC}"/>
              </a:ext>
            </a:extLst>
          </p:cNvPr>
          <p:cNvSpPr txBox="1"/>
          <p:nvPr/>
        </p:nvSpPr>
        <p:spPr>
          <a:xfrm>
            <a:off x="157316" y="1936955"/>
            <a:ext cx="10844981" cy="4247317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This table c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ontains a list of months with their corresponding abbreviations, quarters, and fiscal years.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Columns :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              I)  month –  The first day of the month in the format dd-mm-yyyy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              2) mmm –  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Abbreviation of the month (e.g., Apr, May).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              3) Quarter – 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The fiscal quarter (e.g., Q1, Q2)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              4) Fiscal year -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The fiscal year associated with the month.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Observations:</a:t>
            </a:r>
          </a:p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1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)  The fiscal year starts in April and ends in March.</a:t>
            </a:r>
          </a:p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 2)  Each quarters span 3 months :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                 Q1 – Apr , May , Jun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                 Q2 – Jul , Aug , Sept</a:t>
            </a:r>
          </a:p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                 Q3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– Oct , Nov , Dec</a:t>
            </a:r>
          </a:p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                 Q4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– Jan , Feb , Mar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09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BFCE-2295-DA2F-D8B8-077E69E8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A05F16D-FFBB-71BB-A399-68893BD68712}"/>
              </a:ext>
            </a:extLst>
          </p:cNvPr>
          <p:cNvSpPr txBox="1"/>
          <p:nvPr/>
        </p:nvSpPr>
        <p:spPr>
          <a:xfrm>
            <a:off x="1917290" y="167147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DBA2F-DE6D-FEC1-2FB4-DFB95BC5C470}"/>
              </a:ext>
            </a:extLst>
          </p:cNvPr>
          <p:cNvSpPr txBox="1"/>
          <p:nvPr/>
        </p:nvSpPr>
        <p:spPr>
          <a:xfrm>
            <a:off x="157316" y="1268362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Table : dim districts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0310B-D23F-DF74-0727-52FCD3C4BDEF}"/>
              </a:ext>
            </a:extLst>
          </p:cNvPr>
          <p:cNvSpPr txBox="1"/>
          <p:nvPr/>
        </p:nvSpPr>
        <p:spPr>
          <a:xfrm>
            <a:off x="157316" y="1936955"/>
            <a:ext cx="10844981" cy="34163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This table contains a list of districts in Telangana, India, along with their unique district codes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Columns :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               I)  district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code –  A unique code assigned to each district (e.g., 19_1, 22_2)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              2) districts        –   The official name of the district (e.g., Hyderabad , Warangal 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Observations:</a:t>
            </a:r>
          </a:p>
          <a:p>
            <a:pPr marL="342900" indent="-342900">
              <a:buAutoNum type="arabicParenR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There are 34 districts listed in this dataset.</a:t>
            </a:r>
          </a:p>
          <a:p>
            <a:pPr marL="342900" indent="-342900">
              <a:buAutoNum type="arabicParenR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District names reflect the official names as recognized by the Government of Telangana.</a:t>
            </a:r>
          </a:p>
          <a:p>
            <a:pPr marL="342900" indent="-342900">
              <a:buAutoNum type="arabicParenR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The file can be used to map district codes to their corresponding district names for data integration or reporting purposes.</a:t>
            </a:r>
          </a:p>
          <a:p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62261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E4B11-4AC9-400F-97C4-F727C842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14C6BE-7709-616B-20DE-FE179CC43B3A}"/>
              </a:ext>
            </a:extLst>
          </p:cNvPr>
          <p:cNvSpPr txBox="1"/>
          <p:nvPr/>
        </p:nvSpPr>
        <p:spPr>
          <a:xfrm>
            <a:off x="1917290" y="167147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20EA09-B57E-7DAF-B373-6EC248B027F5}"/>
              </a:ext>
            </a:extLst>
          </p:cNvPr>
          <p:cNvSpPr txBox="1"/>
          <p:nvPr/>
        </p:nvSpPr>
        <p:spPr>
          <a:xfrm>
            <a:off x="157316" y="1268362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Table : fact stamps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5F045-D295-2754-80E0-85BE3D0F69F0}"/>
              </a:ext>
            </a:extLst>
          </p:cNvPr>
          <p:cNvSpPr txBox="1"/>
          <p:nvPr/>
        </p:nvSpPr>
        <p:spPr>
          <a:xfrm>
            <a:off x="157316" y="1936955"/>
            <a:ext cx="11690555" cy="369331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This table contains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data related to stamp registrations or document registrations in the state of Telangana, India.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Columns :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I)  district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code                         –  A unique code assigned to each district (e.g., 19_1, 22_2)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2) month                                  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The first day of the month in the format dd-mm–yyyy.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3)</a:t>
            </a:r>
            <a:r>
              <a:rPr lang="en-US" dirty="0"/>
              <a:t> documents registered cnt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dirty="0"/>
              <a:t>This column represents the total count of documents registered.         </a:t>
            </a:r>
          </a:p>
          <a:p>
            <a:r>
              <a:rPr lang="en-US" dirty="0"/>
              <a:t>4)documents registered rev 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dirty="0"/>
              <a:t> This column represents the total revenue generated from the registered documents.  5)estamps challans cnt          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dirty="0"/>
              <a:t> This column represents the count of e-stamps challans. </a:t>
            </a:r>
          </a:p>
          <a:p>
            <a:r>
              <a:rPr lang="en-US" dirty="0"/>
              <a:t>6) estamps challans rev         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–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dirty="0"/>
              <a:t>This column represents the revenue generated from e-stamps challans.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Observations:</a:t>
            </a:r>
          </a:p>
          <a:p>
            <a:pPr marL="342900" indent="-342900">
              <a:buFontTx/>
              <a:buAutoNum type="arabicParenR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The dataset spans from April 2019 to March 2023 , covering approximately 4 years of monthly data.</a:t>
            </a:r>
          </a:p>
          <a:p>
            <a:pPr marL="342900" indent="-342900">
              <a:buAutoNum type="arabicParenR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Each district has associated monthly data.</a:t>
            </a:r>
          </a:p>
        </p:txBody>
      </p:sp>
    </p:spTree>
    <p:extLst>
      <p:ext uri="{BB962C8B-B14F-4D97-AF65-F5344CB8AC3E}">
        <p14:creationId xmlns:p14="http://schemas.microsoft.com/office/powerpoint/2010/main" val="11203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B1DA-FD6E-88DA-13C2-9CB288A8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3118017-82BB-2CB1-FE1D-4DA393E67F34}"/>
              </a:ext>
            </a:extLst>
          </p:cNvPr>
          <p:cNvSpPr txBox="1"/>
          <p:nvPr/>
        </p:nvSpPr>
        <p:spPr>
          <a:xfrm>
            <a:off x="1917290" y="167147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983F80-3D2C-1A86-A1E2-F11483192ADF}"/>
              </a:ext>
            </a:extLst>
          </p:cNvPr>
          <p:cNvSpPr txBox="1"/>
          <p:nvPr/>
        </p:nvSpPr>
        <p:spPr>
          <a:xfrm>
            <a:off x="-1" y="1327356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Table : fact transports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3BD61-4F4B-1CAA-D932-015C4BF9C331}"/>
              </a:ext>
            </a:extLst>
          </p:cNvPr>
          <p:cNvSpPr txBox="1"/>
          <p:nvPr/>
        </p:nvSpPr>
        <p:spPr>
          <a:xfrm>
            <a:off x="88490" y="1891038"/>
            <a:ext cx="11690555" cy="480131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This table contains </a:t>
            </a: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data related to vehicle registrations in Telangana, India.</a:t>
            </a: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Columns :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I)  district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code                    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: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A unique code assigned to each district (e.g., 19_1, 22_2)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2) month                                    : 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The first day of the month in the format dd-mm–yyyy.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3)</a:t>
            </a:r>
            <a:r>
              <a:rPr lang="en-US" dirty="0"/>
              <a:t> fuel type petrol                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:  </a:t>
            </a:r>
            <a:r>
              <a:rPr lang="en-US" dirty="0"/>
              <a:t>Number of petrol-fueled vehicles .</a:t>
            </a:r>
          </a:p>
          <a:p>
            <a:r>
              <a:rPr lang="en-US" dirty="0"/>
              <a:t>4) fuel type diesel                     :  Number of diesel-fueled vehicles .</a:t>
            </a:r>
          </a:p>
          <a:p>
            <a:r>
              <a:rPr lang="en-US" dirty="0"/>
              <a:t>5) fuel type electric             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:  </a:t>
            </a:r>
            <a:r>
              <a:rPr lang="en-US" dirty="0"/>
              <a:t>Number of electric vehicles .</a:t>
            </a:r>
          </a:p>
          <a:p>
            <a:r>
              <a:rPr lang="en-US" dirty="0"/>
              <a:t>6) fuel type others               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: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</a:t>
            </a:r>
            <a:r>
              <a:rPr lang="en-US" dirty="0"/>
              <a:t>Number of vehicles with other fuel types (e.g., CNG, LPG).</a:t>
            </a:r>
          </a:p>
          <a:p>
            <a:r>
              <a:rPr lang="en-US" dirty="0"/>
              <a:t>7) vehicleClass MotorCycle      : Number of motorcycles .</a:t>
            </a:r>
          </a:p>
          <a:p>
            <a:r>
              <a:rPr lang="en-US" dirty="0"/>
              <a:t>8) vehicleClass MotorCar          : Number of motor cars .</a:t>
            </a:r>
          </a:p>
          <a:p>
            <a:r>
              <a:rPr lang="en-US" dirty="0"/>
              <a:t>9) vehicleClass AutoRickshaw   : Number of auto rickshaws .</a:t>
            </a:r>
          </a:p>
          <a:p>
            <a:r>
              <a:rPr lang="en-US" dirty="0"/>
              <a:t>10) vehicleClass Agriculture      : Number of agricultural vehicles .</a:t>
            </a:r>
          </a:p>
          <a:p>
            <a:r>
              <a:rPr lang="en-US" dirty="0"/>
              <a:t>11)vehicleClass others               : Number of other vehicle classes .</a:t>
            </a:r>
          </a:p>
          <a:p>
            <a:r>
              <a:rPr lang="en-US" dirty="0"/>
              <a:t>12)Category Non-Transport      : Number of non-transport vehicles.</a:t>
            </a:r>
          </a:p>
          <a:p>
            <a:r>
              <a:rPr lang="en-US" dirty="0"/>
              <a:t>13)Category Transport               : Number of transport vehicles 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4AC2A-8618-B095-2F7D-B4F0508E4EC3}"/>
              </a:ext>
            </a:extLst>
          </p:cNvPr>
          <p:cNvSpPr txBox="1"/>
          <p:nvPr/>
        </p:nvSpPr>
        <p:spPr>
          <a:xfrm>
            <a:off x="11149781" y="1558188"/>
            <a:ext cx="95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(1/2)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7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C943E-D775-0EEA-5B93-B7272158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3BDA9A-1726-BEEB-77A4-B3B5E6E2FB75}"/>
              </a:ext>
            </a:extLst>
          </p:cNvPr>
          <p:cNvSpPr txBox="1"/>
          <p:nvPr/>
        </p:nvSpPr>
        <p:spPr>
          <a:xfrm>
            <a:off x="1917290" y="167147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A045E-5AFE-7A2D-2C6B-439A09DECE09}"/>
              </a:ext>
            </a:extLst>
          </p:cNvPr>
          <p:cNvSpPr txBox="1"/>
          <p:nvPr/>
        </p:nvSpPr>
        <p:spPr>
          <a:xfrm>
            <a:off x="-1" y="1327356"/>
            <a:ext cx="4011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Table : fact transports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8710-45D2-5627-46F9-F132AA97FBBE}"/>
              </a:ext>
            </a:extLst>
          </p:cNvPr>
          <p:cNvSpPr txBox="1"/>
          <p:nvPr/>
        </p:nvSpPr>
        <p:spPr>
          <a:xfrm>
            <a:off x="88490" y="1891038"/>
            <a:ext cx="11690555" cy="313932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Columns :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I4) seatCapacity_1_to_3                       : Vehicles with seating capacity of 1-3.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15) seatCapacity_4_to_6                      : Vehicles with seating capacity of 4-6.</a:t>
            </a:r>
          </a:p>
          <a:p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16) seatCapacity_above_6                   : Vehicles with seating capacity above 6.</a:t>
            </a:r>
          </a:p>
          <a:p>
            <a:r>
              <a:rPr lang="en-US" dirty="0"/>
              <a:t>17) Brand new vehicles                         : Number of brand-new vehicles .</a:t>
            </a:r>
          </a:p>
          <a:p>
            <a:r>
              <a:rPr lang="en-US" dirty="0"/>
              <a:t>18) Pre-owned vehicles                         : Number of pre-owned vehicles.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Observations 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district has associated monthly data for various categories like fuel type, vehicle class, seat capacity, and more.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C5E01-AF73-2846-FA10-C4543FCC4BB4}"/>
              </a:ext>
            </a:extLst>
          </p:cNvPr>
          <p:cNvSpPr txBox="1"/>
          <p:nvPr/>
        </p:nvSpPr>
        <p:spPr>
          <a:xfrm>
            <a:off x="11149781" y="1558188"/>
            <a:ext cx="95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(2/2)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57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636F-BA51-BB5A-5FB3-D0F7DCFC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42E72B-5EE3-A5C2-CA65-A7AD5923FAA0}"/>
              </a:ext>
            </a:extLst>
          </p:cNvPr>
          <p:cNvSpPr txBox="1"/>
          <p:nvPr/>
        </p:nvSpPr>
        <p:spPr>
          <a:xfrm>
            <a:off x="1917290" y="167147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Dataset Overview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38BA02-7528-CEE8-2A9D-8A64F1623D1E}"/>
              </a:ext>
            </a:extLst>
          </p:cNvPr>
          <p:cNvSpPr txBox="1"/>
          <p:nvPr/>
        </p:nvSpPr>
        <p:spPr>
          <a:xfrm>
            <a:off x="157316" y="1268362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Table : fact TS iPass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35563-BEDE-7148-BB9B-F891943269AF}"/>
              </a:ext>
            </a:extLst>
          </p:cNvPr>
          <p:cNvSpPr txBox="1"/>
          <p:nvPr/>
        </p:nvSpPr>
        <p:spPr>
          <a:xfrm>
            <a:off x="157316" y="1936955"/>
            <a:ext cx="11690555" cy="34163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This table</a:t>
            </a:r>
            <a:r>
              <a:rPr lang="en-US" dirty="0">
                <a:solidFill>
                  <a:srgbClr val="FAFAFC"/>
                </a:solidFill>
                <a:latin typeface="system-ui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ontains data related to industrial approvals in the state of Telangana, India, under the Telangana State Industrial Project Approvals and Self Certification System (TS-IPASS) scheme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Columns :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I)  district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code                  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: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 A unique code assigned to each district (e.g., 19_1, 22_2)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2) month                                 : 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The first day of the month in the format dd-mm–yyyy.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3)</a:t>
            </a:r>
            <a:r>
              <a:rPr lang="en-US" dirty="0"/>
              <a:t> sectors                                : The industry(e.g., Engineering, Food Processing, Textiles) to which the investment belongs.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4) Investment in cr                :  </a:t>
            </a:r>
            <a:r>
              <a:rPr lang="en-US" dirty="0"/>
              <a:t>Declared investment in crores of Indian Rupees.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5) number of employee       :  </a:t>
            </a:r>
            <a:r>
              <a:rPr lang="en-US" dirty="0"/>
              <a:t>Number of jobs expected to be created through the project.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ystem-ui"/>
            </a:endParaRP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system-u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Observations:</a:t>
            </a:r>
          </a:p>
          <a:p>
            <a:pPr marL="342900" indent="-342900">
              <a:buFontTx/>
              <a:buAutoNum type="arabicParenR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At monthly level each entry provides number of approved projects ,investment amount (INR), employment generation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.</a:t>
            </a: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86495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6DA5-2BC1-7A48-04C9-3F4E971E0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DF61D2-7966-B304-E617-A220FFBF8430}"/>
              </a:ext>
            </a:extLst>
          </p:cNvPr>
          <p:cNvSpPr txBox="1"/>
          <p:nvPr/>
        </p:nvSpPr>
        <p:spPr>
          <a:xfrm>
            <a:off x="1848464" y="127818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ER DIAGRAM</a:t>
            </a:r>
            <a:endParaRPr lang="en-IN" sz="4000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26AFF-1548-6CD1-0EFA-2F52B34FF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561"/>
            <a:ext cx="12192000" cy="589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0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Technology Stack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00943" y="1871399"/>
            <a:ext cx="7064828" cy="3139321"/>
          </a:xfrm>
          <a:prstGeom prst="rect">
            <a:avLst/>
          </a:prstGeom>
          <a:ln>
            <a:solidFill>
              <a:srgbClr val="660033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Excel:</a:t>
            </a:r>
            <a:br>
              <a:rPr lang="en-US" dirty="0"/>
            </a:br>
            <a:r>
              <a:rPr lang="en-US" dirty="0"/>
              <a:t> Perfect for initial data exploration, performing quick calculations, and sharing results with team members.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SQL Server:</a:t>
            </a:r>
            <a:br>
              <a:rPr lang="en-US" dirty="0"/>
            </a:br>
            <a:r>
              <a:rPr lang="en-US" dirty="0"/>
              <a:t>Serves as the backbone for storing and processing structured data, enabling efficient querying and analysis across large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Power BI:</a:t>
            </a:r>
            <a:br>
              <a:rPr lang="en-US" dirty="0"/>
            </a:br>
            <a:r>
              <a:rPr lang="en-US" dirty="0"/>
              <a:t>Ideal for delivering insights to business leaders and decision-makers through interactive dashboards and reports.</a:t>
            </a:r>
          </a:p>
        </p:txBody>
      </p:sp>
    </p:spTree>
    <p:extLst>
      <p:ext uri="{BB962C8B-B14F-4D97-AF65-F5344CB8AC3E}">
        <p14:creationId xmlns:p14="http://schemas.microsoft.com/office/powerpoint/2010/main" val="228765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List Of Data Checks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40972" y="1991142"/>
            <a:ext cx="7064828" cy="3139321"/>
          </a:xfrm>
          <a:prstGeom prst="rect">
            <a:avLst/>
          </a:prstGeom>
          <a:ln>
            <a:solidFill>
              <a:srgbClr val="660033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Checking missing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Checking duplicated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Checking if any rows have negative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Checking name convention.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Checking all columns has proper data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Checking each row represents one district-month combination.</a:t>
            </a:r>
          </a:p>
        </p:txBody>
      </p:sp>
    </p:spTree>
    <p:extLst>
      <p:ext uri="{BB962C8B-B14F-4D97-AF65-F5344CB8AC3E}">
        <p14:creationId xmlns:p14="http://schemas.microsoft.com/office/powerpoint/2010/main" val="337698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76A1-D4CF-E90F-4033-EC772434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937187-9DC8-7C3B-547E-D15ADF637C9D}"/>
              </a:ext>
            </a:extLst>
          </p:cNvPr>
          <p:cNvSpPr txBox="1"/>
          <p:nvPr/>
        </p:nvSpPr>
        <p:spPr>
          <a:xfrm>
            <a:off x="1809135" y="-98324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KPI &amp; Formula</a:t>
            </a:r>
            <a:endParaRPr lang="en-IN" sz="4000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B656C0-9B65-8ADE-3834-4A94F090D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181376"/>
              </p:ext>
            </p:extLst>
          </p:nvPr>
        </p:nvGraphicFramePr>
        <p:xfrm>
          <a:off x="304800" y="835704"/>
          <a:ext cx="11800114" cy="6014103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933372">
                  <a:extLst>
                    <a:ext uri="{9D8B030D-6E8A-4147-A177-3AD203B41FA5}">
                      <a16:colId xmlns:a16="http://schemas.microsoft.com/office/drawing/2014/main" val="4149111248"/>
                    </a:ext>
                  </a:extLst>
                </a:gridCol>
                <a:gridCol w="5135587">
                  <a:extLst>
                    <a:ext uri="{9D8B030D-6E8A-4147-A177-3AD203B41FA5}">
                      <a16:colId xmlns:a16="http://schemas.microsoft.com/office/drawing/2014/main" val="1760677536"/>
                    </a:ext>
                  </a:extLst>
                </a:gridCol>
                <a:gridCol w="2731155">
                  <a:extLst>
                    <a:ext uri="{9D8B030D-6E8A-4147-A177-3AD203B41FA5}">
                      <a16:colId xmlns:a16="http://schemas.microsoft.com/office/drawing/2014/main" val="3220058362"/>
                    </a:ext>
                  </a:extLst>
                </a:gridCol>
              </a:tblGrid>
              <a:tr h="436263">
                <a:tc>
                  <a:txBody>
                    <a:bodyPr/>
                    <a:lstStyle/>
                    <a:p>
                      <a:r>
                        <a:rPr lang="en-US" dirty="0"/>
                        <a:t>Document &amp; Stamps KPIs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4590"/>
                  </a:ext>
                </a:extLst>
              </a:tr>
              <a:tr h="573198">
                <a:tc>
                  <a:txBody>
                    <a:bodyPr/>
                    <a:lstStyle/>
                    <a:p>
                      <a:r>
                        <a:rPr lang="en-US" dirty="0"/>
                        <a:t>Total Document registered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sum(documents registered cnt)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count of document registered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70646"/>
                  </a:ext>
                </a:extLst>
              </a:tr>
              <a:tr h="573198">
                <a:tc>
                  <a:txBody>
                    <a:bodyPr/>
                    <a:lstStyle/>
                    <a:p>
                      <a:r>
                        <a:rPr lang="en-US" dirty="0"/>
                        <a:t>Total revenue from stamps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SUM(estamps challan rev)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revenue generated via stamps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131634"/>
                  </a:ext>
                </a:extLst>
              </a:tr>
              <a:tr h="8188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revenue from documents</a:t>
                      </a:r>
                      <a:r>
                        <a:rPr lang="en-US" baseline="0" dirty="0"/>
                        <a:t> registered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sum(documents registered rev)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revenue generated via document</a:t>
                      </a:r>
                      <a:r>
                        <a:rPr lang="en-US" baseline="0" dirty="0"/>
                        <a:t> registered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93392"/>
                  </a:ext>
                </a:extLst>
              </a:tr>
              <a:tr h="818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Revenue per stamps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revenue / total stamps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Stamps per revenue  registered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16586"/>
                  </a:ext>
                </a:extLst>
              </a:tr>
              <a:tr h="573198">
                <a:tc>
                  <a:txBody>
                    <a:bodyPr/>
                    <a:lstStyle/>
                    <a:p>
                      <a:r>
                        <a:rPr lang="en-US" dirty="0"/>
                        <a:t>Average Revenue per document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revenue / total documents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 per revenue  registered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871626"/>
                  </a:ext>
                </a:extLst>
              </a:tr>
              <a:tr h="818854">
                <a:tc>
                  <a:txBody>
                    <a:bodyPr/>
                    <a:lstStyle/>
                    <a:p>
                      <a:r>
                        <a:rPr lang="en-US" dirty="0"/>
                        <a:t>Top performing district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RANK(District, SUM(documents registered cnt))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Top N districts by total documents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63944"/>
                  </a:ext>
                </a:extLst>
              </a:tr>
              <a:tr h="8878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Stamp Penetration Rate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Stamp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Penetration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Rate = DIVIDE( SUM(stamps[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stamps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challans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cnt]), [Total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</a:t>
                      </a:r>
                      <a:r>
                        <a:rPr lang="en-IN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Registered]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how many documents are being converted to digital stamps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359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50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Metrics for Stamp &amp; document</a:t>
            </a:r>
            <a:endParaRPr lang="en-IN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697096"/>
              </p:ext>
            </p:extLst>
          </p:nvPr>
        </p:nvGraphicFramePr>
        <p:xfrm>
          <a:off x="1759857" y="1328916"/>
          <a:ext cx="8128000" cy="48564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Document registered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revenue from stamps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220.68bn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Top performing district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Yadadri Bhuvanagiri  with</a:t>
                      </a:r>
                      <a:r>
                        <a:rPr lang="en-IN" baseline="0" dirty="0"/>
                        <a:t> 262167 document count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Revenue per stamps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75.4K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Revenue per document registered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60.6K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r>
                        <a:rPr lang="en-US" baseline="0" dirty="0"/>
                        <a:t> revenue from document registered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295bn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Stamp Penetration Rate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60.06%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030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F0324-9E78-41CA-12FF-FAA623C6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73F9CE-47B8-97A7-502A-41B9B3914C74}"/>
              </a:ext>
            </a:extLst>
          </p:cNvPr>
          <p:cNvSpPr txBox="1"/>
          <p:nvPr/>
        </p:nvSpPr>
        <p:spPr>
          <a:xfrm>
            <a:off x="1809135" y="-98324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KPI &amp; Formula</a:t>
            </a:r>
            <a:endParaRPr lang="en-IN" sz="4000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3159BA-59B6-3077-7798-DF7E1C312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583376"/>
              </p:ext>
            </p:extLst>
          </p:nvPr>
        </p:nvGraphicFramePr>
        <p:xfrm>
          <a:off x="231057" y="609562"/>
          <a:ext cx="11729885" cy="622792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909962">
                  <a:extLst>
                    <a:ext uri="{9D8B030D-6E8A-4147-A177-3AD203B41FA5}">
                      <a16:colId xmlns:a16="http://schemas.microsoft.com/office/drawing/2014/main" val="4149111248"/>
                    </a:ext>
                  </a:extLst>
                </a:gridCol>
                <a:gridCol w="4909575">
                  <a:extLst>
                    <a:ext uri="{9D8B030D-6E8A-4147-A177-3AD203B41FA5}">
                      <a16:colId xmlns:a16="http://schemas.microsoft.com/office/drawing/2014/main" val="1760677536"/>
                    </a:ext>
                  </a:extLst>
                </a:gridCol>
                <a:gridCol w="2910348">
                  <a:extLst>
                    <a:ext uri="{9D8B030D-6E8A-4147-A177-3AD203B41FA5}">
                      <a16:colId xmlns:a16="http://schemas.microsoft.com/office/drawing/2014/main" val="3220058362"/>
                    </a:ext>
                  </a:extLst>
                </a:gridCol>
              </a:tblGrid>
              <a:tr h="371438">
                <a:tc>
                  <a:txBody>
                    <a:bodyPr/>
                    <a:lstStyle/>
                    <a:p>
                      <a:r>
                        <a:rPr lang="en-US" dirty="0"/>
                        <a:t>Transports KPIs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4590"/>
                  </a:ext>
                </a:extLst>
              </a:tr>
              <a:tr h="603140">
                <a:tc>
                  <a:txBody>
                    <a:bodyPr/>
                    <a:lstStyle/>
                    <a:p>
                      <a:r>
                        <a:rPr lang="en-US" dirty="0"/>
                        <a:t>Total fuel type vehicles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Petrol + diesel + electric + others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number of fuel type vehicles registered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70646"/>
                  </a:ext>
                </a:extLst>
              </a:tr>
              <a:tr h="861628">
                <a:tc>
                  <a:txBody>
                    <a:bodyPr/>
                    <a:lstStyle/>
                    <a:p>
                      <a:r>
                        <a:rPr lang="en-US" dirty="0"/>
                        <a:t>Total class vehicles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Motorcycle + motorcar+ autorickshaw + agriculture + others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number of vehicles class registered</a:t>
                      </a:r>
                      <a:endParaRPr lang="en-IN" dirty="0"/>
                    </a:p>
                    <a:p>
                      <a:endPara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131634"/>
                  </a:ext>
                </a:extLst>
              </a:tr>
              <a:tr h="697179">
                <a:tc>
                  <a:txBody>
                    <a:bodyPr/>
                    <a:lstStyle/>
                    <a:p>
                      <a:r>
                        <a:rPr lang="en-US" dirty="0"/>
                        <a:t>Percentage of brand-new vehicles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New Vehicles / (New + Used) * 100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of new vehicles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93392"/>
                  </a:ext>
                </a:extLst>
              </a:tr>
              <a:tr h="6434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Percentage of transports vehicles</a:t>
                      </a:r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Transport vehicles / (Transport + Non-Transport)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* 100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Percentage of transports vehicles</a:t>
                      </a:r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16586"/>
                  </a:ext>
                </a:extLst>
              </a:tr>
              <a:tr h="8616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seat capacity vehicles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seatCapacity_1_to_3 + seatCapacity_4_to_6 + seatCapacity_above_6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number of seat capacity vehicles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871626"/>
                  </a:ext>
                </a:extLst>
              </a:tr>
              <a:tr h="8616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District-wise EV Adoption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Electric Vehicles (District X) / Total Vehicles (District X) * 100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Electric vehicles per district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63944"/>
                  </a:ext>
                </a:extLst>
              </a:tr>
              <a:tr h="8616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Average Seat Utilization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Avg passengers = seat capacity vehicles/ total vehicles</a:t>
                      </a:r>
                      <a:br>
                        <a:rPr lang="en-IN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Avg. passengers per vehicle</a:t>
                      </a:r>
                    </a:p>
                    <a:p>
                      <a:endPara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359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44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Metrics for Transportation</a:t>
            </a:r>
            <a:endParaRPr lang="en-IN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92959"/>
              </p:ext>
            </p:extLst>
          </p:nvPr>
        </p:nvGraphicFramePr>
        <p:xfrm>
          <a:off x="1676634" y="1594387"/>
          <a:ext cx="8128000" cy="37744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fuel type vehicles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66.67Lakhs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no. of vehicles 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48.10 lakhs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Percentage of brand-new vehicles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93.27%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Percentage of transports vehicles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8.98%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seat capacity vehicles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66.63Lakhs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Avg. passengers per vehicle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2.6400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 adoption percentage(for Hyderabad)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2.79%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243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8526-067A-A482-3D93-EC326891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A41A54-491F-FED6-E87A-11B23A9B732E}"/>
              </a:ext>
            </a:extLst>
          </p:cNvPr>
          <p:cNvSpPr txBox="1"/>
          <p:nvPr/>
        </p:nvSpPr>
        <p:spPr>
          <a:xfrm>
            <a:off x="1809135" y="-98324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KPI &amp; Formula</a:t>
            </a:r>
            <a:endParaRPr lang="en-IN" sz="4000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4997FB-E485-40F0-7917-9389034AE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403302"/>
              </p:ext>
            </p:extLst>
          </p:nvPr>
        </p:nvGraphicFramePr>
        <p:xfrm>
          <a:off x="206478" y="606811"/>
          <a:ext cx="11552903" cy="625118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850968">
                  <a:extLst>
                    <a:ext uri="{9D8B030D-6E8A-4147-A177-3AD203B41FA5}">
                      <a16:colId xmlns:a16="http://schemas.microsoft.com/office/drawing/2014/main" val="4149111248"/>
                    </a:ext>
                  </a:extLst>
                </a:gridCol>
                <a:gridCol w="5027997">
                  <a:extLst>
                    <a:ext uri="{9D8B030D-6E8A-4147-A177-3AD203B41FA5}">
                      <a16:colId xmlns:a16="http://schemas.microsoft.com/office/drawing/2014/main" val="1760677536"/>
                    </a:ext>
                  </a:extLst>
                </a:gridCol>
                <a:gridCol w="2673938">
                  <a:extLst>
                    <a:ext uri="{9D8B030D-6E8A-4147-A177-3AD203B41FA5}">
                      <a16:colId xmlns:a16="http://schemas.microsoft.com/office/drawing/2014/main" val="3220058362"/>
                    </a:ext>
                  </a:extLst>
                </a:gridCol>
              </a:tblGrid>
              <a:tr h="521148">
                <a:tc>
                  <a:txBody>
                    <a:bodyPr/>
                    <a:lstStyle/>
                    <a:p>
                      <a:r>
                        <a:rPr lang="en-US" dirty="0"/>
                        <a:t>iPASS KPIs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4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Total investment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sum(investment in cr)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Sum of investment amounts (INR)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70646"/>
                  </a:ext>
                </a:extLst>
              </a:tr>
              <a:tr h="573198">
                <a:tc>
                  <a:txBody>
                    <a:bodyPr/>
                    <a:lstStyle/>
                    <a:p>
                      <a:r>
                        <a:rPr lang="en-US" dirty="0"/>
                        <a:t>Total employment generated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sum(number of employee)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Total jobs created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131634"/>
                  </a:ext>
                </a:extLst>
              </a:tr>
              <a:tr h="818854">
                <a:tc>
                  <a:txBody>
                    <a:bodyPr/>
                    <a:lstStyle/>
                    <a:p>
                      <a:r>
                        <a:rPr lang="en-US" dirty="0"/>
                        <a:t>Total sectors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Sum(sectors)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Number of sectors</a:t>
                      </a:r>
                      <a:endPara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93392"/>
                  </a:ext>
                </a:extLst>
              </a:tr>
              <a:tr h="818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Monthly growth 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current month - previous month) /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   previous month * 100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MoM change in investment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16586"/>
                  </a:ext>
                </a:extLst>
              </a:tr>
              <a:tr h="5731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Sector-wise Investment &amp; Jobs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sum(investment in cr) / sector, sum(number of employee) /sector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Share of each sector in investment </a:t>
                      </a:r>
                      <a:endParaRPr lang="en-I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871626"/>
                  </a:ext>
                </a:extLst>
              </a:tr>
              <a:tr h="818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Sector-wise Labour Efficiency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(Jobs by Sector) / (Investment by Sector) * 10000000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Jobs per crore invested by sector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63944"/>
                  </a:ext>
                </a:extLst>
              </a:tr>
              <a:tr h="887827">
                <a:tc>
                  <a:txBody>
                    <a:bodyPr/>
                    <a:lstStyle/>
                    <a:p>
                      <a:r>
                        <a:rPr lang="en-US" dirty="0"/>
                        <a:t>Average investment per sector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Average(Total investment / total sector)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investment per sector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359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354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Metrics for iPASS</a:t>
            </a:r>
            <a:endParaRPr lang="en-IN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87867"/>
              </p:ext>
            </p:extLst>
          </p:nvPr>
        </p:nvGraphicFramePr>
        <p:xfrm>
          <a:off x="1759857" y="1328916"/>
          <a:ext cx="8128000" cy="45821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768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investment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 </a:t>
                      </a:r>
                      <a:r>
                        <a:rPr lang="en-US" dirty="0"/>
                        <a:t>99.13k crores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employment generated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675k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Monthly growth rate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sectors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investment per sector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 4,956.67 crores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Sector-wise Investment &amp; Jobs</a:t>
                      </a:r>
                    </a:p>
                    <a:p>
                      <a:r>
                        <a:rPr lang="en-IN" dirty="0"/>
                        <a:t>(</a:t>
                      </a:r>
                      <a:r>
                        <a:rPr lang="en-US" dirty="0"/>
                        <a:t>Real Estate, Industrial Parks and IT Buildings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₹29778.1741 crores &amp; 352558 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Labour efficiency per employee</a:t>
                      </a:r>
                    </a:p>
                    <a:p>
                      <a:r>
                        <a:rPr lang="en-US" dirty="0"/>
                        <a:t>(Solar and Other Renewable Energy)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 1.436 crores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243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7CA87-8A57-6CD7-8B0B-9368B160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8DAD00-7323-FDC4-A13A-77173E5DF1C6}"/>
              </a:ext>
            </a:extLst>
          </p:cNvPr>
          <p:cNvSpPr txBox="1"/>
          <p:nvPr/>
        </p:nvSpPr>
        <p:spPr>
          <a:xfrm>
            <a:off x="1838632" y="-117989"/>
            <a:ext cx="7443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Analysis to be made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0FDE1-9E2F-272A-5AED-67F1B5566176}"/>
              </a:ext>
            </a:extLst>
          </p:cNvPr>
          <p:cNvSpPr txBox="1"/>
          <p:nvPr/>
        </p:nvSpPr>
        <p:spPr>
          <a:xfrm>
            <a:off x="93405" y="796374"/>
            <a:ext cx="5712542" cy="826380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Stamp registration over time 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Bar chart : Fiscal Year x Quarter vs Total Documents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Line chart : Trend over time</a:t>
            </a:r>
          </a:p>
          <a:p>
            <a:pPr marL="342900" indent="-342900" algn="l">
              <a:spcBef>
                <a:spcPts val="900"/>
              </a:spcBef>
              <a:spcAft>
                <a:spcPts val="900"/>
              </a:spcAft>
              <a:buAutoNum type="arabicPeriod" startAt="2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Top performing district by stamp revenue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Bar chart : Top 10 districts by revenue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Bar chart: Bottom 10 district by revenue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3. Electric vehicle trends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Line chart : EV adoption trend over time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Stacked bar chart : Fuel types per quarter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4. </a:t>
            </a:r>
            <a:r>
              <a:rPr lang="en-IN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Industrial Investment by Sector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Pie chart : Share of investment by sector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Bar chart : Top 10 sectors by investment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IN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</a:pP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  <a:p>
            <a:pPr marL="342900" indent="-342900" algn="l">
              <a:spcBef>
                <a:spcPts val="900"/>
              </a:spcBef>
              <a:spcAft>
                <a:spcPts val="900"/>
              </a:spcAft>
              <a:buAutoNum type="arabicPeriod" startAt="2"/>
            </a:pPr>
            <a:endParaRPr 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  <a:p>
            <a:pPr marL="342900" indent="-342900">
              <a:buAutoNum type="arabicPeriod"/>
            </a:pP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FEE4D-6176-E97C-1BFD-51A2DF37AC6C}"/>
              </a:ext>
            </a:extLst>
          </p:cNvPr>
          <p:cNvSpPr txBox="1"/>
          <p:nvPr/>
        </p:nvSpPr>
        <p:spPr>
          <a:xfrm>
            <a:off x="6282813" y="796374"/>
            <a:ext cx="5584722" cy="67172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5. Job creation by sector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Bar chart : Jobs created per sector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Combo chart : Investment vs Employment comparison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District-wise job creation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Bar chart : Top 10 districts by jobs</a:t>
            </a:r>
          </a:p>
          <a:p>
            <a:pPr marL="285750" indent="-28575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Heatmap : District-wise job density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ystem-ui"/>
              </a:rPr>
              <a:t>7. Vehicle class distribution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Bar chart : Total vehicles per class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Pie chart : % distribution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8. </a:t>
            </a:r>
            <a:r>
              <a:rPr lang="en-IN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Stamp Registration vs Industrial Investment Correlation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ystem-ui"/>
              </a:rPr>
              <a:t> Dual-axis line chart : Document registrations vs Investment trends</a:t>
            </a:r>
          </a:p>
          <a:p>
            <a:pPr>
              <a:buNone/>
            </a:pPr>
            <a:br>
              <a:rPr lang="en-IN" dirty="0"/>
            </a:br>
            <a:endParaRPr lang="en-IN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system-ui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</a:pP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17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0365" y="118292"/>
            <a:ext cx="45883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Dashboard layout</a:t>
            </a:r>
            <a:endParaRPr lang="en-IN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629" y="1197429"/>
            <a:ext cx="11234057" cy="54646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 &amp; Stamps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11629" y="1763486"/>
            <a:ext cx="11234057" cy="326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11629" y="4093029"/>
            <a:ext cx="11342914" cy="5442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12029" y="4147457"/>
            <a:ext cx="21771" cy="25146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968343" y="4120243"/>
            <a:ext cx="0" cy="25418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159829" y="1796143"/>
            <a:ext cx="32657" cy="23513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11629" y="2318657"/>
            <a:ext cx="46808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52057" y="2318657"/>
            <a:ext cx="0" cy="1828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1629" y="3233057"/>
            <a:ext cx="46808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5">
            <a:extLst>
              <a:ext uri="{FF2B5EF4-FFF2-40B4-BE49-F238E27FC236}">
                <a16:creationId xmlns:a16="http://schemas.microsoft.com/office/drawing/2014/main" id="{95E6F260-9236-9D5C-90D6-A4C881FF9E3D}"/>
              </a:ext>
            </a:extLst>
          </p:cNvPr>
          <p:cNvSpPr/>
          <p:nvPr/>
        </p:nvSpPr>
        <p:spPr>
          <a:xfrm>
            <a:off x="511629" y="1213758"/>
            <a:ext cx="1023509" cy="582385"/>
          </a:xfrm>
          <a:custGeom>
            <a:avLst/>
            <a:gdLst/>
            <a:ahLst/>
            <a:cxnLst/>
            <a:rect l="l" t="t" r="r" b="b"/>
            <a:pathLst>
              <a:path w="2696200" h="2696200">
                <a:moveTo>
                  <a:pt x="0" y="0"/>
                </a:moveTo>
                <a:lnTo>
                  <a:pt x="2696200" y="0"/>
                </a:lnTo>
                <a:lnTo>
                  <a:pt x="2696200" y="2696200"/>
                </a:lnTo>
                <a:lnTo>
                  <a:pt x="0" y="269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819400" y="1216871"/>
            <a:ext cx="4530584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Documents &amp; Stamps</a:t>
            </a:r>
            <a:endParaRPr lang="en-IN" sz="3200" dirty="0"/>
          </a:p>
        </p:txBody>
      </p:sp>
      <p:sp>
        <p:nvSpPr>
          <p:cNvPr id="27" name="TextBox 26"/>
          <p:cNvSpPr txBox="1"/>
          <p:nvPr/>
        </p:nvSpPr>
        <p:spPr>
          <a:xfrm>
            <a:off x="7491497" y="1320284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Next Page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9646867" y="1320284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Clear all Slicers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699006" y="1866195"/>
            <a:ext cx="24266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Slicers : Fiscal Years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615878" y="2318657"/>
            <a:ext cx="19920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document registered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15877" y="3283412"/>
            <a:ext cx="199208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stamp registered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2962165" y="3283412"/>
            <a:ext cx="199208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Revenue of stamp registered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2896943" y="2318657"/>
            <a:ext cx="212252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Revenue of document registered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754518" y="2050861"/>
            <a:ext cx="4935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of document vs count of stamp registered :</a:t>
            </a:r>
          </a:p>
          <a:p>
            <a:r>
              <a:rPr lang="en-US" dirty="0"/>
              <a:t> line chart : x-axis </a:t>
            </a:r>
            <a:r>
              <a:rPr lang="en-US" dirty="0">
                <a:sym typeface="Wingdings" pitchFamily="2" charset="2"/>
              </a:rPr>
              <a:t> years</a:t>
            </a:r>
          </a:p>
          <a:p>
            <a:r>
              <a:rPr lang="en-US" dirty="0">
                <a:sym typeface="Wingdings" pitchFamily="2" charset="2"/>
              </a:rPr>
              <a:t>                     y-axis count of document and stamp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15878" y="4647104"/>
            <a:ext cx="2987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Stamp revenue distribution:</a:t>
            </a:r>
          </a:p>
          <a:p>
            <a:r>
              <a:rPr lang="en-US" dirty="0"/>
              <a:t> Map chart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0871" y="4647104"/>
            <a:ext cx="323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District wise YoY Growth%:</a:t>
            </a:r>
          </a:p>
          <a:p>
            <a:r>
              <a:rPr lang="en-US" dirty="0"/>
              <a:t> line chart: </a:t>
            </a:r>
            <a:r>
              <a:rPr lang="en-US" dirty="0">
                <a:sym typeface="Wingdings" pitchFamily="2" charset="2"/>
              </a:rPr>
              <a:t>x-axis  District</a:t>
            </a:r>
          </a:p>
          <a:p>
            <a:r>
              <a:rPr lang="en-US" dirty="0">
                <a:sym typeface="Wingdings" pitchFamily="2" charset="2"/>
              </a:rPr>
              <a:t>       y-axis  revenue growth%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048672" y="4647104"/>
            <a:ext cx="3544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Top5 District wise revenue:</a:t>
            </a:r>
          </a:p>
          <a:p>
            <a:r>
              <a:rPr lang="en-US" dirty="0"/>
              <a:t> column chart: : </a:t>
            </a:r>
            <a:r>
              <a:rPr lang="en-US" dirty="0">
                <a:sym typeface="Wingdings" pitchFamily="2" charset="2"/>
              </a:rPr>
              <a:t>x-axis  District</a:t>
            </a:r>
          </a:p>
          <a:p>
            <a:r>
              <a:rPr lang="en-US" dirty="0">
                <a:sym typeface="Wingdings" pitchFamily="2" charset="2"/>
              </a:rPr>
              <a:t>       y-axis  Total revenue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56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0365" y="118292"/>
            <a:ext cx="45883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Dashboard layout</a:t>
            </a:r>
            <a:endParaRPr lang="en-IN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629" y="1197429"/>
            <a:ext cx="11234057" cy="54646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 &amp; Stamps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11629" y="1763486"/>
            <a:ext cx="11234057" cy="326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11629" y="4093029"/>
            <a:ext cx="11234057" cy="5442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12029" y="4147457"/>
            <a:ext cx="21771" cy="25146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968343" y="4120243"/>
            <a:ext cx="0" cy="25418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159829" y="1796143"/>
            <a:ext cx="32657" cy="23513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11629" y="2318657"/>
            <a:ext cx="46808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52057" y="2318657"/>
            <a:ext cx="0" cy="1828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1629" y="3233057"/>
            <a:ext cx="46808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5">
            <a:extLst>
              <a:ext uri="{FF2B5EF4-FFF2-40B4-BE49-F238E27FC236}">
                <a16:creationId xmlns:a16="http://schemas.microsoft.com/office/drawing/2014/main" id="{95E6F260-9236-9D5C-90D6-A4C881FF9E3D}"/>
              </a:ext>
            </a:extLst>
          </p:cNvPr>
          <p:cNvSpPr/>
          <p:nvPr/>
        </p:nvSpPr>
        <p:spPr>
          <a:xfrm>
            <a:off x="511629" y="1213758"/>
            <a:ext cx="1023509" cy="582385"/>
          </a:xfrm>
          <a:custGeom>
            <a:avLst/>
            <a:gdLst/>
            <a:ahLst/>
            <a:cxnLst/>
            <a:rect l="l" t="t" r="r" b="b"/>
            <a:pathLst>
              <a:path w="2696200" h="2696200">
                <a:moveTo>
                  <a:pt x="0" y="0"/>
                </a:moveTo>
                <a:lnTo>
                  <a:pt x="2696200" y="0"/>
                </a:lnTo>
                <a:lnTo>
                  <a:pt x="2696200" y="2696200"/>
                </a:lnTo>
                <a:lnTo>
                  <a:pt x="0" y="269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819400" y="1216871"/>
            <a:ext cx="4530584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Transportation</a:t>
            </a:r>
            <a:endParaRPr lang="en-IN" sz="3200" dirty="0"/>
          </a:p>
        </p:txBody>
      </p:sp>
      <p:sp>
        <p:nvSpPr>
          <p:cNvPr id="27" name="TextBox 26"/>
          <p:cNvSpPr txBox="1"/>
          <p:nvPr/>
        </p:nvSpPr>
        <p:spPr>
          <a:xfrm>
            <a:off x="7491497" y="1320284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Next Page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9646867" y="1320284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Clear all Slicers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1699006" y="1866195"/>
            <a:ext cx="24266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Slicers : Fiscal Years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615876" y="2309727"/>
            <a:ext cx="199208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diesel vehicles sold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15877" y="3283412"/>
            <a:ext cx="19920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petrol vehicles sold</a:t>
            </a:r>
            <a:endParaRPr lang="en-IN" dirty="0"/>
          </a:p>
          <a:p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2962165" y="3283412"/>
            <a:ext cx="19920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others fuel vehicles sold</a:t>
            </a:r>
            <a:endParaRPr lang="en-IN" dirty="0"/>
          </a:p>
          <a:p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2896943" y="2318657"/>
            <a:ext cx="212252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electric vehicles sold</a:t>
            </a:r>
            <a:endParaRPr lang="en-IN" dirty="0"/>
          </a:p>
          <a:p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754518" y="2050861"/>
            <a:ext cx="4935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Monthly Fuel Type sold:</a:t>
            </a:r>
          </a:p>
          <a:p>
            <a:r>
              <a:rPr lang="en-US" dirty="0"/>
              <a:t> line chart : x-axis </a:t>
            </a:r>
            <a:r>
              <a:rPr lang="en-US" dirty="0">
                <a:sym typeface="Wingdings" pitchFamily="2" charset="2"/>
              </a:rPr>
              <a:t> moths</a:t>
            </a:r>
          </a:p>
          <a:p>
            <a:r>
              <a:rPr lang="en-US" dirty="0">
                <a:sym typeface="Wingdings" pitchFamily="2" charset="2"/>
              </a:rPr>
              <a:t>                     y-axis Total vehicles sold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15878" y="4647104"/>
            <a:ext cx="2987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 vehicles sold in district:</a:t>
            </a:r>
          </a:p>
          <a:p>
            <a:r>
              <a:rPr lang="en-US" dirty="0"/>
              <a:t> Map chart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0871" y="4647104"/>
            <a:ext cx="323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5 District wise YoY Growth%:</a:t>
            </a:r>
          </a:p>
          <a:p>
            <a:r>
              <a:rPr lang="en-US" dirty="0"/>
              <a:t> line chart: </a:t>
            </a:r>
            <a:r>
              <a:rPr lang="en-US" dirty="0">
                <a:sym typeface="Wingdings" pitchFamily="2" charset="2"/>
              </a:rPr>
              <a:t>x-axis  District</a:t>
            </a:r>
          </a:p>
          <a:p>
            <a:r>
              <a:rPr lang="en-US" dirty="0">
                <a:sym typeface="Wingdings" pitchFamily="2" charset="2"/>
              </a:rPr>
              <a:t>       y-axis  YoY growth%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048672" y="4647104"/>
            <a:ext cx="3544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 of vehicles:</a:t>
            </a:r>
          </a:p>
          <a:p>
            <a:r>
              <a:rPr lang="en-US" dirty="0"/>
              <a:t> Pie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720" y="1324592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Previous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995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0365" y="118292"/>
            <a:ext cx="45883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Dashboard layout</a:t>
            </a:r>
            <a:endParaRPr lang="en-IN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629" y="1197429"/>
            <a:ext cx="11234057" cy="54646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 &amp; Stamps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11629" y="1763486"/>
            <a:ext cx="11234057" cy="3265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11629" y="4093029"/>
            <a:ext cx="11234057" cy="5442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12029" y="4147457"/>
            <a:ext cx="21771" cy="25146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968343" y="4120243"/>
            <a:ext cx="0" cy="25418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159829" y="1796143"/>
            <a:ext cx="32657" cy="235131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11629" y="2318657"/>
            <a:ext cx="46808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52057" y="2318657"/>
            <a:ext cx="0" cy="1828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1629" y="3233057"/>
            <a:ext cx="46808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5">
            <a:extLst>
              <a:ext uri="{FF2B5EF4-FFF2-40B4-BE49-F238E27FC236}">
                <a16:creationId xmlns:a16="http://schemas.microsoft.com/office/drawing/2014/main" id="{95E6F260-9236-9D5C-90D6-A4C881FF9E3D}"/>
              </a:ext>
            </a:extLst>
          </p:cNvPr>
          <p:cNvSpPr/>
          <p:nvPr/>
        </p:nvSpPr>
        <p:spPr>
          <a:xfrm>
            <a:off x="511629" y="1213758"/>
            <a:ext cx="1023509" cy="582385"/>
          </a:xfrm>
          <a:custGeom>
            <a:avLst/>
            <a:gdLst/>
            <a:ahLst/>
            <a:cxnLst/>
            <a:rect l="l" t="t" r="r" b="b"/>
            <a:pathLst>
              <a:path w="2696200" h="2696200">
                <a:moveTo>
                  <a:pt x="0" y="0"/>
                </a:moveTo>
                <a:lnTo>
                  <a:pt x="2696200" y="0"/>
                </a:lnTo>
                <a:lnTo>
                  <a:pt x="2696200" y="2696200"/>
                </a:lnTo>
                <a:lnTo>
                  <a:pt x="0" y="269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899087" y="1178711"/>
            <a:ext cx="4935253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Industrial Investment &amp; Job Creation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867" y="1320284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Clear all Slicers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511629" y="1856796"/>
            <a:ext cx="15393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Slicers : Sector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615876" y="2309727"/>
            <a:ext cx="19920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investment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15877" y="3283412"/>
            <a:ext cx="19920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Total sectors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2962165" y="3283412"/>
            <a:ext cx="199208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Monthly growth rate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2896943" y="2318657"/>
            <a:ext cx="212252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employee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754518" y="2050861"/>
            <a:ext cx="4935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Investment in cr by months:</a:t>
            </a:r>
          </a:p>
          <a:p>
            <a:r>
              <a:rPr lang="en-US" dirty="0"/>
              <a:t> line chart : x-axis </a:t>
            </a:r>
            <a:r>
              <a:rPr lang="en-US" dirty="0">
                <a:sym typeface="Wingdings" pitchFamily="2" charset="2"/>
              </a:rPr>
              <a:t> moths</a:t>
            </a:r>
          </a:p>
          <a:p>
            <a:r>
              <a:rPr lang="en-US" dirty="0">
                <a:sym typeface="Wingdings" pitchFamily="2" charset="2"/>
              </a:rPr>
              <a:t>                     y-axis Total investments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15878" y="4647104"/>
            <a:ext cx="2987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District wise investment:</a:t>
            </a:r>
          </a:p>
          <a:p>
            <a:r>
              <a:rPr lang="en-US" dirty="0"/>
              <a:t> Map chart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0871" y="4647104"/>
            <a:ext cx="32306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5 District wise investment and employee</a:t>
            </a:r>
          </a:p>
          <a:p>
            <a:r>
              <a:rPr lang="en-US" dirty="0"/>
              <a:t> line chart: </a:t>
            </a:r>
            <a:r>
              <a:rPr lang="en-US" dirty="0">
                <a:sym typeface="Wingdings" pitchFamily="2" charset="2"/>
              </a:rPr>
              <a:t>x-axis  District</a:t>
            </a:r>
          </a:p>
          <a:p>
            <a:r>
              <a:rPr lang="en-US" dirty="0">
                <a:sym typeface="Wingdings" pitchFamily="2" charset="2"/>
              </a:rPr>
              <a:t>       y-axis  </a:t>
            </a:r>
            <a:r>
              <a:rPr lang="en-US" dirty="0"/>
              <a:t>investment and employee</a:t>
            </a:r>
          </a:p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048672" y="4647104"/>
            <a:ext cx="3544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Top5 sector by employee:</a:t>
            </a:r>
          </a:p>
          <a:p>
            <a:r>
              <a:rPr lang="en-US" dirty="0"/>
              <a:t> column chart: x-axis</a:t>
            </a:r>
            <a:r>
              <a:rPr lang="en-US" dirty="0">
                <a:sym typeface="Wingdings" pitchFamily="2" charset="2"/>
              </a:rPr>
              <a:t> sectors</a:t>
            </a:r>
          </a:p>
          <a:p>
            <a:r>
              <a:rPr lang="en-US" dirty="0">
                <a:sym typeface="Wingdings" pitchFamily="2" charset="2"/>
              </a:rPr>
              <a:t>             y-axis number of employee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938720" y="1324592"/>
            <a:ext cx="1761359" cy="369332"/>
          </a:xfrm>
          <a:prstGeom prst="rect">
            <a:avLst/>
          </a:prstGeom>
          <a:noFill/>
          <a:ln>
            <a:solidFill>
              <a:srgbClr val="66003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Previous Page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92713-C290-5D91-9A52-2B06D743F4F2}"/>
              </a:ext>
            </a:extLst>
          </p:cNvPr>
          <p:cNvSpPr txBox="1"/>
          <p:nvPr/>
        </p:nvSpPr>
        <p:spPr>
          <a:xfrm>
            <a:off x="2025327" y="1942195"/>
            <a:ext cx="17748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Slicers : Quarters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2BC7D-9CFF-E1DD-30D6-7FD6DC1012C3}"/>
              </a:ext>
            </a:extLst>
          </p:cNvPr>
          <p:cNvSpPr txBox="1"/>
          <p:nvPr/>
        </p:nvSpPr>
        <p:spPr>
          <a:xfrm>
            <a:off x="3733800" y="1873364"/>
            <a:ext cx="153931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Slicers : Years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86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E0EB6-4874-F9F5-2792-88B47DB7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79386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07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703116" y="232544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Insight for Document &amp; Stamp</a:t>
            </a:r>
            <a:endParaRPr lang="en-IN" b="1" u="sng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03116" y="1329112"/>
            <a:ext cx="9082871" cy="507831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1. Key Metrics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Documents Registered : 5 million.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Stamp Registrations : 3 million.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Document Revenue : ₹295 billion.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Stamp Revenue : ₹220.68 billion.</a:t>
            </a:r>
          </a:p>
          <a:p>
            <a:endParaRPr lang="en-US" dirty="0"/>
          </a:p>
          <a:p>
            <a:r>
              <a:rPr lang="en-US" dirty="0"/>
              <a:t>2. Count of Document &amp; Stamp Registration Over Time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Both document and stamp registrations show an upward trend over the years.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Stamp registration counts have consistently been lower than document registrations.</a:t>
            </a:r>
          </a:p>
          <a:p>
            <a:endParaRPr lang="en-US" dirty="0"/>
          </a:p>
          <a:p>
            <a:r>
              <a:rPr lang="en-US" dirty="0"/>
              <a:t>3. Revenue YoY Growth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Revenue growth has been steady, with significant increases observed over time.</a:t>
            </a:r>
          </a:p>
          <a:p>
            <a:endParaRPr lang="en-US" dirty="0"/>
          </a:p>
          <a:p>
            <a:r>
              <a:rPr lang="en-US" dirty="0"/>
              <a:t>4. District-wise Revenue Distribution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Some districts (e.g., Rangareddy) contribute significantly more revenue compared to others.</a:t>
            </a:r>
          </a:p>
          <a:p>
            <a:endParaRPr lang="en-US" dirty="0"/>
          </a:p>
          <a:p>
            <a:r>
              <a:rPr lang="en-US" dirty="0"/>
              <a:t>5. Top 5 Districts by Total Revenue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Rangareddy leads in total revenue, followed by Medchal Malkajgiri and Hyderabad.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656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772967" y="203047"/>
            <a:ext cx="9144000" cy="662894"/>
          </a:xfrm>
        </p:spPr>
        <p:txBody>
          <a:bodyPr>
            <a:noAutofit/>
          </a:bodyPr>
          <a:lstStyle/>
          <a:p>
            <a:r>
              <a:rPr lang="en-US" sz="4800" b="1" u="sng" dirty="0">
                <a:solidFill>
                  <a:srgbClr val="C00000"/>
                </a:solidFill>
              </a:rPr>
              <a:t>Recommendation &amp; Stakeholders</a:t>
            </a:r>
            <a:endParaRPr lang="en-IN" sz="4800" b="1" u="sn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3265" y="1230555"/>
            <a:ext cx="4075471" cy="433965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Recommendations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Focus on High-Revenue Districts : Implement strategies to maintain or increase revenue in top-performing districts.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Digital Transformation : Enhance e-stamping adoption to streamline processes and reduce manual errors.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Seasonal Analysis : Identify peak periods for document and stamp registrations to optimize resource allocation.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0133" y="1216655"/>
            <a:ext cx="4246834" cy="433965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Stakeholders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Revenue Department : Track revenue collection and ensure compliance.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Tax Collectors : Monitor stamp duty collections and identify areas for improvement.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 Teams : Support digital initiatives like e-stamping to improve efficiency.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Public Awareness Campaigns : Educate citizens about the benefits of electronic stamping.</a:t>
            </a:r>
          </a:p>
        </p:txBody>
      </p:sp>
    </p:spTree>
    <p:extLst>
      <p:ext uri="{BB962C8B-B14F-4D97-AF65-F5344CB8AC3E}">
        <p14:creationId xmlns:p14="http://schemas.microsoft.com/office/powerpoint/2010/main" val="2287656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88D5E-B148-84CB-BDA5-E4156E21C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1" y="8569"/>
            <a:ext cx="12174649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07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731179" y="259509"/>
            <a:ext cx="9144000" cy="66289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Insight for Transportation</a:t>
            </a:r>
            <a:endParaRPr lang="en-IN" b="1" u="sn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6236" y="1243179"/>
            <a:ext cx="8773887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1. Vehicle Sales Summary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Total diesel vehicles sold: 949K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Total electric vehicles sold: 104K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Total petrol vehicles sold: 6M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Total other fuel vehicles sold: 89K .</a:t>
            </a:r>
          </a:p>
          <a:p>
            <a:endParaRPr lang="en-US" dirty="0"/>
          </a:p>
          <a:p>
            <a:r>
              <a:rPr lang="en-US" dirty="0"/>
              <a:t>2. Monthly Fuel Type Vehicles Sold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Electric vehicle sales show consistent growth over time.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Diesel and petrol vehicle sales remain stable but lower compared to electric vehicles.</a:t>
            </a:r>
          </a:p>
          <a:p>
            <a:endParaRPr lang="en-US" dirty="0"/>
          </a:p>
          <a:p>
            <a:r>
              <a:rPr lang="en-US" dirty="0"/>
              <a:t>3. Overall Vehicles Sold by District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Districts like Hyderabad and Rangareddy show higher vehicle sales compared to others.</a:t>
            </a:r>
          </a:p>
          <a:p>
            <a:endParaRPr lang="en-US" dirty="0"/>
          </a:p>
          <a:p>
            <a:r>
              <a:rPr lang="en-US" dirty="0"/>
              <a:t>4. YoY Growth by Top 5 Districts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Rangareddy exhibits the highest year-over-year growth in vehicle sales.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5. Distribution of Vehicles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Motorcycles account for 21.52% of total vehicles sold, followed by agriculture vehicles (18.4% ) and auto-rickshaws (12.13%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5338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51586" y="193214"/>
            <a:ext cx="8409741" cy="662894"/>
          </a:xfrm>
        </p:spPr>
        <p:txBody>
          <a:bodyPr>
            <a:noAutofit/>
          </a:bodyPr>
          <a:lstStyle/>
          <a:p>
            <a:r>
              <a:rPr lang="en-US" sz="4800" b="1" u="sng" dirty="0">
                <a:solidFill>
                  <a:srgbClr val="C00000"/>
                </a:solidFill>
              </a:rPr>
              <a:t>Recommendation &amp; Stakeholders</a:t>
            </a:r>
            <a:endParaRPr lang="en-IN" sz="4800" b="1" u="sn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16332" y="1172787"/>
            <a:ext cx="5072743" cy="4893647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Recommendations 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Promote Electric Vehicles : Continue incentivizing EV adoption to reduce pollution and dependency on fossil fuels.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District-Specific Strategies : Address low vehicle sales in underperforming districts through targeted campaigns.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Fuel-Type Analysis : Monitor the shift towards electric vehicles and plan infrastructure accordingly (e.g., charging stations).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Seasonal Trends : Identify peak sales periods for different vehicle types to optimize inventory and marketing efforts.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446881" y="1172787"/>
            <a:ext cx="3702900" cy="461664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Stakeholders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Transportation Authorities : Monitor vehicle sales trends and plan infrastructure improvements.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Environmental Agencies : Track EV adoption to meet sustainability goals.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Urban Planning Departments : Plan road expansions and parking facilities based on vehicle distribution.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7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51857" y="360363"/>
            <a:ext cx="9144000" cy="66289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B9855-75BA-BBFE-7866-B32E0DBD6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48"/>
            <a:ext cx="12041280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07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396181" y="185489"/>
            <a:ext cx="9144000" cy="662894"/>
          </a:xfrm>
        </p:spPr>
        <p:txBody>
          <a:bodyPr>
            <a:noAutofit/>
          </a:bodyPr>
          <a:lstStyle/>
          <a:p>
            <a:r>
              <a:rPr lang="en-US" sz="5400" b="1" u="sng" dirty="0">
                <a:solidFill>
                  <a:srgbClr val="C00000"/>
                </a:solidFill>
              </a:rPr>
              <a:t>Insight for TS iPASS</a:t>
            </a:r>
            <a:endParaRPr lang="en-IN" sz="5400" b="1" u="sng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28801" y="1106153"/>
            <a:ext cx="8711380" cy="507831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1. Investment in Crores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Total investment across sectors is ₹99.13K crore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Number of employees generated is 675K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There are 20 sectors involved, with a monthly growth rate of 0.08 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2. Investment by Months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Investment peaks in February (₹24K crore) and dips in March (₹8K crore) 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general upward trend is visible from April to February, followed by a decline in March.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3. District-wise Investment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map shows varying levels of investment across districts, with some districts having significantly higher investments than others.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4. Top 5 Districts by Employee and Investment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Rangareddy leads in both employee generation and investment.</a:t>
            </a:r>
          </a:p>
          <a:p>
            <a:endParaRPr lang="en-US" dirty="0"/>
          </a:p>
          <a:p>
            <a:r>
              <a:rPr lang="en-US" dirty="0"/>
              <a:t>5. Top 5 Sectors by Investment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Real Estate, Industrial Parks, and IT Buildings dominate the investment landscape.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455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612490" y="232544"/>
            <a:ext cx="9144000" cy="662894"/>
          </a:xfrm>
        </p:spPr>
        <p:txBody>
          <a:bodyPr>
            <a:noAutofit/>
          </a:bodyPr>
          <a:lstStyle/>
          <a:p>
            <a:r>
              <a:rPr lang="en-US" sz="4800" b="1" u="sng" dirty="0">
                <a:solidFill>
                  <a:srgbClr val="C00000"/>
                </a:solidFill>
              </a:rPr>
              <a:t>Recommendation &amp; Stakeholders</a:t>
            </a:r>
            <a:endParaRPr lang="en-IN" sz="4800" b="1" u="sng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48270" y="1316869"/>
            <a:ext cx="4550229" cy="40626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Recommendations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Focus on High-Investment Districts : Allocate resources to districts like Rangareddy to sustain high investment trends.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Sector Diversification : Encourage investment in other sectors beyond real estate to balance economic growth.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Monthly Growth Monitoring : Track monthly fluctuations closely to identify seasonal patterns or anomalies.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7161747" y="1316869"/>
            <a:ext cx="3594743" cy="40626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Stakeholders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Government Officials : Monitor overall investment and employment trends.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Business Investors : Identify high-potential sectors and districts for future investments.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Employment Agencies : Track job creation trends to align workforce development programs.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455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30085" y="2755220"/>
            <a:ext cx="9144000" cy="662894"/>
          </a:xfrm>
        </p:spPr>
        <p:txBody>
          <a:bodyPr>
            <a:noAutofit/>
          </a:bodyPr>
          <a:lstStyle/>
          <a:p>
            <a:r>
              <a:rPr lang="en-US" sz="9600" b="1" i="1" u="sng" dirty="0">
                <a:solidFill>
                  <a:srgbClr val="FF0000"/>
                </a:solidFill>
              </a:rPr>
              <a:t>Thank you</a:t>
            </a:r>
            <a:endParaRPr lang="en-IN" sz="9600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656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8895</TotalTime>
  <Words>3082</Words>
  <Application>Microsoft Office PowerPoint</Application>
  <PresentationFormat>Widescreen</PresentationFormat>
  <Paragraphs>501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Raleway</vt:lpstr>
      <vt:lpstr>Raleway Medium</vt:lpstr>
      <vt:lpstr>system-ui</vt:lpstr>
      <vt:lpstr>Wingdings</vt:lpstr>
      <vt:lpstr>Office Theme</vt:lpstr>
      <vt:lpstr>Telangana Growth Analysis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Technology Stack</vt:lpstr>
      <vt:lpstr>List Of Data Checks</vt:lpstr>
      <vt:lpstr>PowerPoint Presentation</vt:lpstr>
      <vt:lpstr>Metrics for Stamp &amp; document</vt:lpstr>
      <vt:lpstr>PowerPoint Presentation</vt:lpstr>
      <vt:lpstr>Metrics for Transportation</vt:lpstr>
      <vt:lpstr>PowerPoint Presentation</vt:lpstr>
      <vt:lpstr>Metrics for iPASS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 for Document &amp; Stamp</vt:lpstr>
      <vt:lpstr>Recommendation &amp; Stakeholders</vt:lpstr>
      <vt:lpstr>PowerPoint Presentation</vt:lpstr>
      <vt:lpstr>Insight for Transportation</vt:lpstr>
      <vt:lpstr>Recommendation &amp; Stakeholders</vt:lpstr>
      <vt:lpstr>PowerPoint Presentation</vt:lpstr>
      <vt:lpstr>Insight for TS iPASS</vt:lpstr>
      <vt:lpstr>Recommendation &amp; Stakeholders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Telangana Growth Analysis  </dc:title>
  <dc:creator>Gaurav Nailwal</dc:creator>
  <cp:lastModifiedBy>Gaurav Nailwal</cp:lastModifiedBy>
  <cp:revision>97</cp:revision>
  <dcterms:created xsi:type="dcterms:W3CDTF">2025-05-15T13:20:46Z</dcterms:created>
  <dcterms:modified xsi:type="dcterms:W3CDTF">2025-07-25T07:42:16Z</dcterms:modified>
</cp:coreProperties>
</file>